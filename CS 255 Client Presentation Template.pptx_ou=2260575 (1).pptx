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speaker notes required for this slide.]</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your speaker notes, include an explanation of the different requirements you determined for DriverPass’s system. What are the functional requirements you selected to describe? What are the nonfunctional requirements you selected to describe? Be sure to explain how these requirements meet DriverPass’s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DriverPass system should offer several essential features for both customers and staff. Customers should have the capability to book lessons, complete practice tests, and monitor their advancement. Employees require resources to handle appointments and customer data. Additionally, the system must ensure security, be accessible online, and function across various devices. These specifications enable DriverPass to deliver convenient and dependable driver training services.</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your diagram. Who are the different actors in the system? What are the different use cases? How did you account for DriverPass’s needs in your design? In your explanation, keep your audience in mind. Avoid the use of terms like “actors” and “use cases” in your explanation.]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demonstrates the various interactions individuals have with the DriverPass system. Clients are able to set up accounts, arrange lessons, complete practice tests, and monitor their development. Office personnel can help clients with booking appointments and handling records. Administrators oversee the system and manage user profiles. The design caters to the requirements of both clients and staff while ensuring that DMV information stays up to date.</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[Explain your diagram. Which use case are you breaking down? What are the steps for this use case? How did you account for DriverPass’s needs in your design? In your explanation, keep your audience in mind. Avoid the use of technical terms such as “nodes,” “control flows,” and so on.]</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This diagram illustrates the process a customer goes through to book a driving lesson. The customer signs in, picks a package, selects a date and time, and then the system verifies availability. If a lesson is open, the reservation is recorded and confirmed. If the chosen time is not available, alternative options are presented. This procedure helps guarantee that appointments are organized effectively and accurately.</a:t>
            </a:r>
            <a:endParaRPr/>
          </a:p>
          <a:p>
            <a:pPr indent="0" lvl="0" marL="0" rtl="0" algn="l">
              <a:spcBef>
                <a:spcPts val="0"/>
              </a:spcBef>
              <a:spcAft>
                <a:spcPts val="0"/>
              </a:spcAft>
              <a:buNone/>
            </a:pPr>
            <a:r>
              <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[How did you consider security in your design? In your explanation, keep your audience in mind by avoiding the use of technical terms.]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Security is an important part of the DriverPass system. Users must log in before accessing their accounts. Password recovery helps users regain access if they forget their credentials. Different employees have different levels of access based on their responsibilities. Activity tracking records important actions within the system, helping DriverPass monitor changes and maintain accountability. Customer information is stored securely to protect privacy.</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[What are the limitations of your design? In your explanation, keep your audience in mind by avoiding the use of technical terms.]</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Although the system provides many benefits, there are some limitations. Users need an internet connection to make updates and schedule appointments. Significant changes to lesson packages may require additional development work. The system also relies on updated information from DMV resources to keep training materials current. Access to the system depends on the availability of cloud services and internet connectivity.</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p:nvPr/>
        </p:nvSpPr>
        <p:spPr>
          <a:xfrm>
            <a:off x="475488" y="0"/>
            <a:ext cx="10910292"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0" name="Google Shape;90;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1" name="Google Shape;91;p13"/>
          <p:cNvSpPr txBox="1"/>
          <p:nvPr>
            <p:ph type="ctrTitle"/>
          </p:nvPr>
        </p:nvSpPr>
        <p:spPr>
          <a:xfrm>
            <a:off x="3045368" y="2043663"/>
            <a:ext cx="6105194" cy="20310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Calibri"/>
              <a:buNone/>
            </a:pPr>
            <a:r>
              <a:rPr lang="en-US">
                <a:solidFill>
                  <a:srgbClr val="FFFFFF"/>
                </a:solidFill>
              </a:rPr>
              <a:t>DriverPass</a:t>
            </a:r>
            <a:br>
              <a:rPr lang="en-US">
                <a:solidFill>
                  <a:srgbClr val="FFFFFF"/>
                </a:solidFill>
              </a:rPr>
            </a:br>
            <a:r>
              <a:rPr lang="en-US">
                <a:solidFill>
                  <a:srgbClr val="FFFFFF"/>
                </a:solidFill>
              </a:rPr>
              <a:t>System Analysis</a:t>
            </a:r>
            <a:endParaRPr/>
          </a:p>
        </p:txBody>
      </p:sp>
      <p:sp>
        <p:nvSpPr>
          <p:cNvPr id="92" name="Google Shape;92;p13"/>
          <p:cNvSpPr txBox="1"/>
          <p:nvPr>
            <p:ph idx="1" type="subTitle"/>
          </p:nvPr>
        </p:nvSpPr>
        <p:spPr>
          <a:xfrm>
            <a:off x="3045368" y="4074718"/>
            <a:ext cx="6105194" cy="68207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2400"/>
              <a:buNone/>
            </a:pPr>
            <a:r>
              <a:rPr lang="en-US">
                <a:solidFill>
                  <a:srgbClr val="FFFFFF"/>
                </a:solidFill>
              </a:rPr>
              <a:t>Mosun Solanke</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4"/>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00" name="Google Shape;100;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14"/>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Requirements</a:t>
            </a:r>
            <a:endParaRPr/>
          </a:p>
        </p:txBody>
      </p:sp>
      <p:sp>
        <p:nvSpPr>
          <p:cNvPr id="102" name="Google Shape;102;p14"/>
          <p:cNvSpPr txBox="1"/>
          <p:nvPr>
            <p:ph idx="1" type="body"/>
          </p:nvPr>
        </p:nvSpPr>
        <p:spPr>
          <a:xfrm>
            <a:off x="6090575" y="801876"/>
            <a:ext cx="5350500" cy="5825400"/>
          </a:xfrm>
          <a:prstGeom prst="rect">
            <a:avLst/>
          </a:prstGeom>
          <a:noFill/>
          <a:ln>
            <a:noFill/>
          </a:ln>
        </p:spPr>
        <p:txBody>
          <a:bodyPr anchorCtr="0" anchor="ctr" bIns="45700" lIns="91425" spcFirstLastPara="1" rIns="91425" wrap="square" tIns="45700">
            <a:normAutofit/>
          </a:bodyPr>
          <a:lstStyle/>
          <a:p>
            <a:pPr indent="0" lvl="0" marL="228600" rtl="0" algn="l">
              <a:lnSpc>
                <a:spcPct val="90000"/>
              </a:lnSpc>
              <a:spcBef>
                <a:spcPts val="0"/>
              </a:spcBef>
              <a:spcAft>
                <a:spcPts val="0"/>
              </a:spcAft>
              <a:buNone/>
            </a:pPr>
            <a:r>
              <a:rPr b="1" lang="en-US" sz="2400">
                <a:solidFill>
                  <a:srgbClr val="000000"/>
                </a:solidFill>
              </a:rPr>
              <a:t>Functional Requirements</a:t>
            </a:r>
            <a:endParaRPr b="1" sz="2400">
              <a:solidFill>
                <a:srgbClr val="000000"/>
              </a:solidFill>
            </a:endParaRPr>
          </a:p>
          <a:p>
            <a:pPr indent="-381000" lvl="0" marL="457200" rtl="0" algn="l">
              <a:lnSpc>
                <a:spcPct val="90000"/>
              </a:lnSpc>
              <a:spcBef>
                <a:spcPts val="0"/>
              </a:spcBef>
              <a:spcAft>
                <a:spcPts val="0"/>
              </a:spcAft>
              <a:buClr>
                <a:srgbClr val="000000"/>
              </a:buClr>
              <a:buSzPts val="2400"/>
              <a:buChar char="•"/>
            </a:pPr>
            <a:r>
              <a:rPr lang="en-US" sz="2400">
                <a:solidFill>
                  <a:srgbClr val="000000"/>
                </a:solidFill>
              </a:rPr>
              <a:t>Customers can schedule driving lessons online</a:t>
            </a:r>
            <a:endParaRPr sz="2400">
              <a:solidFill>
                <a:srgbClr val="000000"/>
              </a:solidFill>
            </a:endParaRPr>
          </a:p>
          <a:p>
            <a:pPr indent="-381000" lvl="0" marL="457200" rtl="0" algn="l">
              <a:lnSpc>
                <a:spcPct val="90000"/>
              </a:lnSpc>
              <a:spcBef>
                <a:spcPts val="0"/>
              </a:spcBef>
              <a:spcAft>
                <a:spcPts val="0"/>
              </a:spcAft>
              <a:buClr>
                <a:srgbClr val="000000"/>
              </a:buClr>
              <a:buSzPts val="2400"/>
              <a:buChar char="•"/>
            </a:pPr>
            <a:r>
              <a:rPr lang="en-US" sz="2400">
                <a:solidFill>
                  <a:srgbClr val="000000"/>
                </a:solidFill>
              </a:rPr>
              <a:t>Customers can take practice tests online</a:t>
            </a:r>
            <a:endParaRPr sz="2400">
              <a:solidFill>
                <a:srgbClr val="000000"/>
              </a:solidFill>
            </a:endParaRPr>
          </a:p>
          <a:p>
            <a:pPr indent="-381000" lvl="0" marL="457200" rtl="0" algn="l">
              <a:lnSpc>
                <a:spcPct val="90000"/>
              </a:lnSpc>
              <a:spcBef>
                <a:spcPts val="0"/>
              </a:spcBef>
              <a:spcAft>
                <a:spcPts val="0"/>
              </a:spcAft>
              <a:buClr>
                <a:srgbClr val="000000"/>
              </a:buClr>
              <a:buSzPts val="2400"/>
              <a:buChar char="•"/>
            </a:pPr>
            <a:r>
              <a:rPr lang="en-US" sz="2400">
                <a:solidFill>
                  <a:srgbClr val="000000"/>
                </a:solidFill>
              </a:rPr>
              <a:t>Employees can manage appointments</a:t>
            </a:r>
            <a:endParaRPr sz="2400">
              <a:solidFill>
                <a:srgbClr val="000000"/>
              </a:solidFill>
            </a:endParaRPr>
          </a:p>
          <a:p>
            <a:pPr indent="-381000" lvl="0" marL="457200" rtl="0" algn="l">
              <a:lnSpc>
                <a:spcPct val="90000"/>
              </a:lnSpc>
              <a:spcBef>
                <a:spcPts val="0"/>
              </a:spcBef>
              <a:spcAft>
                <a:spcPts val="0"/>
              </a:spcAft>
              <a:buClr>
                <a:srgbClr val="000000"/>
              </a:buClr>
              <a:buSzPts val="2400"/>
              <a:buChar char="•"/>
            </a:pPr>
            <a:r>
              <a:rPr lang="en-US" sz="2400">
                <a:solidFill>
                  <a:srgbClr val="000000"/>
                </a:solidFill>
              </a:rPr>
              <a:t>Administrators can manage user accounts</a:t>
            </a:r>
            <a:endParaRPr sz="2400">
              <a:solidFill>
                <a:srgbClr val="000000"/>
              </a:solidFill>
            </a:endParaRPr>
          </a:p>
          <a:p>
            <a:pPr indent="0" lvl="0" marL="228600" rtl="0" algn="l">
              <a:lnSpc>
                <a:spcPct val="90000"/>
              </a:lnSpc>
              <a:spcBef>
                <a:spcPts val="0"/>
              </a:spcBef>
              <a:spcAft>
                <a:spcPts val="0"/>
              </a:spcAft>
              <a:buNone/>
            </a:pPr>
            <a:r>
              <a:rPr b="1" lang="en-US" sz="2400">
                <a:solidFill>
                  <a:srgbClr val="000000"/>
                </a:solidFill>
              </a:rPr>
              <a:t>Nonfunctional Requirements</a:t>
            </a:r>
            <a:endParaRPr b="1" sz="2400">
              <a:solidFill>
                <a:srgbClr val="000000"/>
              </a:solidFill>
            </a:endParaRPr>
          </a:p>
          <a:p>
            <a:pPr indent="-381000" lvl="0" marL="457200" rtl="0" algn="l">
              <a:lnSpc>
                <a:spcPct val="90000"/>
              </a:lnSpc>
              <a:spcBef>
                <a:spcPts val="0"/>
              </a:spcBef>
              <a:spcAft>
                <a:spcPts val="0"/>
              </a:spcAft>
              <a:buClr>
                <a:srgbClr val="000000"/>
              </a:buClr>
              <a:buSzPts val="2400"/>
              <a:buChar char="•"/>
            </a:pPr>
            <a:r>
              <a:rPr lang="en-US" sz="2400">
                <a:solidFill>
                  <a:srgbClr val="000000"/>
                </a:solidFill>
              </a:rPr>
              <a:t>System accessible through the internet</a:t>
            </a:r>
            <a:endParaRPr sz="2400">
              <a:solidFill>
                <a:srgbClr val="000000"/>
              </a:solidFill>
            </a:endParaRPr>
          </a:p>
          <a:p>
            <a:pPr indent="-381000" lvl="0" marL="457200" rtl="0" algn="l">
              <a:lnSpc>
                <a:spcPct val="90000"/>
              </a:lnSpc>
              <a:spcBef>
                <a:spcPts val="0"/>
              </a:spcBef>
              <a:spcAft>
                <a:spcPts val="0"/>
              </a:spcAft>
              <a:buClr>
                <a:srgbClr val="000000"/>
              </a:buClr>
              <a:buSzPts val="2400"/>
              <a:buChar char="•"/>
            </a:pPr>
            <a:r>
              <a:rPr lang="en-US" sz="2400">
                <a:solidFill>
                  <a:srgbClr val="000000"/>
                </a:solidFill>
              </a:rPr>
              <a:t>Secure login and password recovery</a:t>
            </a:r>
            <a:endParaRPr sz="2400">
              <a:solidFill>
                <a:srgbClr val="000000"/>
              </a:solidFill>
            </a:endParaRPr>
          </a:p>
          <a:p>
            <a:pPr indent="-381000" lvl="0" marL="457200" rtl="0" algn="l">
              <a:lnSpc>
                <a:spcPct val="90000"/>
              </a:lnSpc>
              <a:spcBef>
                <a:spcPts val="0"/>
              </a:spcBef>
              <a:spcAft>
                <a:spcPts val="0"/>
              </a:spcAft>
              <a:buClr>
                <a:srgbClr val="000000"/>
              </a:buClr>
              <a:buSzPts val="2400"/>
              <a:buChar char="•"/>
            </a:pPr>
            <a:r>
              <a:rPr lang="en-US" sz="2400">
                <a:solidFill>
                  <a:srgbClr val="000000"/>
                </a:solidFill>
              </a:rPr>
              <a:t>Cloud-based data storage</a:t>
            </a:r>
            <a:endParaRPr sz="2400">
              <a:solidFill>
                <a:srgbClr val="000000"/>
              </a:solidFill>
            </a:endParaRPr>
          </a:p>
          <a:p>
            <a:pPr indent="-381000" lvl="0" marL="457200" rtl="0" algn="l">
              <a:lnSpc>
                <a:spcPct val="90000"/>
              </a:lnSpc>
              <a:spcBef>
                <a:spcPts val="0"/>
              </a:spcBef>
              <a:spcAft>
                <a:spcPts val="0"/>
              </a:spcAft>
              <a:buClr>
                <a:srgbClr val="000000"/>
              </a:buClr>
              <a:buSzPts val="2400"/>
              <a:buChar char="•"/>
            </a:pPr>
            <a:r>
              <a:rPr lang="en-US" sz="2400">
                <a:solidFill>
                  <a:srgbClr val="000000"/>
                </a:solidFill>
              </a:rPr>
              <a:t>Compatible with computers and mobile devices</a:t>
            </a:r>
            <a:endParaRPr sz="2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1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15"/>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0" name="Google Shape;110;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1" name="Google Shape;111;p1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Use Case Diagram</a:t>
            </a:r>
            <a:endParaRPr>
              <a:solidFill>
                <a:schemeClr val="lt1"/>
              </a:solidFill>
            </a:endParaRPr>
          </a:p>
        </p:txBody>
      </p:sp>
      <p:pic>
        <p:nvPicPr>
          <p:cNvPr id="112" name="Google Shape;112;p15" title="Blank diagram.png"/>
          <p:cNvPicPr preferRelativeResize="0"/>
          <p:nvPr/>
        </p:nvPicPr>
        <p:blipFill>
          <a:blip r:embed="rId4">
            <a:alphaModFix/>
          </a:blip>
          <a:stretch>
            <a:fillRect/>
          </a:stretch>
        </p:blipFill>
        <p:spPr>
          <a:xfrm>
            <a:off x="6756100" y="-107350"/>
            <a:ext cx="4404950" cy="68579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1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16"/>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0" name="Google Shape;120;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1" name="Google Shape;121;p1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Activity</a:t>
            </a:r>
            <a:br>
              <a:rPr lang="en-US">
                <a:solidFill>
                  <a:schemeClr val="lt1"/>
                </a:solidFill>
              </a:rPr>
            </a:br>
            <a:r>
              <a:rPr lang="en-US">
                <a:solidFill>
                  <a:schemeClr val="lt1"/>
                </a:solidFill>
              </a:rPr>
              <a:t>Diagram</a:t>
            </a:r>
            <a:endParaRPr>
              <a:solidFill>
                <a:schemeClr val="lt1"/>
              </a:solidFill>
            </a:endParaRPr>
          </a:p>
        </p:txBody>
      </p:sp>
      <p:pic>
        <p:nvPicPr>
          <p:cNvPr id="122" name="Google Shape;122;p16" title="Blank diagram (1).png"/>
          <p:cNvPicPr preferRelativeResize="0"/>
          <p:nvPr/>
        </p:nvPicPr>
        <p:blipFill>
          <a:blip r:embed="rId4">
            <a:alphaModFix/>
          </a:blip>
          <a:stretch>
            <a:fillRect/>
          </a:stretch>
        </p:blipFill>
        <p:spPr>
          <a:xfrm>
            <a:off x="4546600" y="1844975"/>
            <a:ext cx="7645399" cy="2863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1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p17"/>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30" name="Google Shape;130;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1" name="Google Shape;131;p17"/>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Security</a:t>
            </a:r>
            <a:endParaRPr>
              <a:solidFill>
                <a:schemeClr val="lt1"/>
              </a:solidFill>
            </a:endParaRPr>
          </a:p>
        </p:txBody>
      </p:sp>
      <p:sp>
        <p:nvSpPr>
          <p:cNvPr id="132" name="Google Shape;132;p17"/>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400"/>
              <a:buChar char="•"/>
            </a:pPr>
            <a:r>
              <a:rPr lang="en-US" sz="2400">
                <a:solidFill>
                  <a:srgbClr val="000000"/>
                </a:solidFill>
              </a:rPr>
              <a:t>Secure user login</a:t>
            </a:r>
            <a:endParaRPr sz="2400">
              <a:solidFill>
                <a:srgbClr val="000000"/>
              </a:solidFill>
            </a:endParaRPr>
          </a:p>
          <a:p>
            <a:pPr indent="-266700" lvl="0" marL="228600" rtl="0" algn="l">
              <a:spcBef>
                <a:spcPts val="0"/>
              </a:spcBef>
              <a:spcAft>
                <a:spcPts val="0"/>
              </a:spcAft>
              <a:buClr>
                <a:srgbClr val="000000"/>
              </a:buClr>
              <a:buSzPts val="2400"/>
              <a:buChar char="•"/>
            </a:pPr>
            <a:r>
              <a:rPr lang="en-US" sz="2400">
                <a:solidFill>
                  <a:srgbClr val="000000"/>
                </a:solidFill>
              </a:rPr>
              <a:t>Password reset capability</a:t>
            </a:r>
            <a:endParaRPr sz="2400">
              <a:solidFill>
                <a:srgbClr val="000000"/>
              </a:solidFill>
            </a:endParaRPr>
          </a:p>
          <a:p>
            <a:pPr indent="-266700" lvl="0" marL="228600" rtl="0" algn="l">
              <a:spcBef>
                <a:spcPts val="0"/>
              </a:spcBef>
              <a:spcAft>
                <a:spcPts val="0"/>
              </a:spcAft>
              <a:buClr>
                <a:srgbClr val="000000"/>
              </a:buClr>
              <a:buSzPts val="2400"/>
              <a:buChar char="•"/>
            </a:pPr>
            <a:r>
              <a:rPr lang="en-US" sz="2400">
                <a:solidFill>
                  <a:srgbClr val="000000"/>
                </a:solidFill>
              </a:rPr>
              <a:t>Different access levels for employees</a:t>
            </a:r>
            <a:endParaRPr sz="2400">
              <a:solidFill>
                <a:srgbClr val="000000"/>
              </a:solidFill>
            </a:endParaRPr>
          </a:p>
          <a:p>
            <a:pPr indent="-266700" lvl="0" marL="228600" rtl="0" algn="l">
              <a:spcBef>
                <a:spcPts val="0"/>
              </a:spcBef>
              <a:spcAft>
                <a:spcPts val="0"/>
              </a:spcAft>
              <a:buClr>
                <a:srgbClr val="000000"/>
              </a:buClr>
              <a:buSzPts val="2400"/>
              <a:buChar char="•"/>
            </a:pPr>
            <a:r>
              <a:rPr lang="en-US" sz="2400">
                <a:solidFill>
                  <a:srgbClr val="000000"/>
                </a:solidFill>
              </a:rPr>
              <a:t>Activity tracking and reporting</a:t>
            </a:r>
            <a:endParaRPr sz="2400">
              <a:solidFill>
                <a:srgbClr val="000000"/>
              </a:solidFill>
            </a:endParaRPr>
          </a:p>
          <a:p>
            <a:pPr indent="-266700" lvl="0" marL="228600" rtl="0" algn="l">
              <a:spcBef>
                <a:spcPts val="0"/>
              </a:spcBef>
              <a:spcAft>
                <a:spcPts val="0"/>
              </a:spcAft>
              <a:buClr>
                <a:srgbClr val="000000"/>
              </a:buClr>
              <a:buSzPts val="2400"/>
              <a:buChar char="•"/>
            </a:pPr>
            <a:r>
              <a:rPr lang="en-US" sz="2400">
                <a:solidFill>
                  <a:srgbClr val="000000"/>
                </a:solidFill>
              </a:rPr>
              <a:t>Secure storage of customer information</a:t>
            </a:r>
            <a:endParaRPr sz="24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18"/>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18"/>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40" name="Google Shape;140;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1" name="Google Shape;141;p18"/>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Limitations</a:t>
            </a:r>
            <a:endParaRPr>
              <a:solidFill>
                <a:schemeClr val="lt1"/>
              </a:solidFill>
            </a:endParaRPr>
          </a:p>
        </p:txBody>
      </p:sp>
      <p:sp>
        <p:nvSpPr>
          <p:cNvPr id="142" name="Google Shape;142;p18"/>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66700" lvl="0" marL="228600" rtl="0" algn="l">
              <a:spcBef>
                <a:spcPts val="0"/>
              </a:spcBef>
              <a:spcAft>
                <a:spcPts val="0"/>
              </a:spcAft>
              <a:buClr>
                <a:srgbClr val="000000"/>
              </a:buClr>
              <a:buSzPts val="2400"/>
              <a:buChar char="•"/>
            </a:pPr>
            <a:r>
              <a:rPr lang="en-US" sz="2400">
                <a:solidFill>
                  <a:srgbClr val="000000"/>
                </a:solidFill>
              </a:rPr>
              <a:t>Internet connection required for updates</a:t>
            </a:r>
            <a:endParaRPr sz="2400">
              <a:solidFill>
                <a:srgbClr val="000000"/>
              </a:solidFill>
            </a:endParaRPr>
          </a:p>
          <a:p>
            <a:pPr indent="-266700" lvl="0" marL="228600" rtl="0" algn="l">
              <a:spcBef>
                <a:spcPts val="0"/>
              </a:spcBef>
              <a:spcAft>
                <a:spcPts val="0"/>
              </a:spcAft>
              <a:buClr>
                <a:srgbClr val="000000"/>
              </a:buClr>
              <a:buSzPts val="2400"/>
              <a:buChar char="•"/>
            </a:pPr>
            <a:r>
              <a:rPr lang="en-US" sz="2400">
                <a:solidFill>
                  <a:srgbClr val="000000"/>
                </a:solidFill>
              </a:rPr>
              <a:t>Major package changes require system updates</a:t>
            </a:r>
            <a:endParaRPr sz="2400">
              <a:solidFill>
                <a:srgbClr val="000000"/>
              </a:solidFill>
            </a:endParaRPr>
          </a:p>
          <a:p>
            <a:pPr indent="-266700" lvl="0" marL="228600" rtl="0" algn="l">
              <a:spcBef>
                <a:spcPts val="0"/>
              </a:spcBef>
              <a:spcAft>
                <a:spcPts val="0"/>
              </a:spcAft>
              <a:buClr>
                <a:srgbClr val="000000"/>
              </a:buClr>
              <a:buSzPts val="2400"/>
              <a:buChar char="•"/>
            </a:pPr>
            <a:r>
              <a:rPr lang="en-US" sz="2400">
                <a:solidFill>
                  <a:srgbClr val="000000"/>
                </a:solidFill>
              </a:rPr>
              <a:t>Depends on DMV information updates</a:t>
            </a:r>
            <a:endParaRPr sz="2400">
              <a:solidFill>
                <a:srgbClr val="000000"/>
              </a:solidFill>
            </a:endParaRPr>
          </a:p>
          <a:p>
            <a:pPr indent="-266700" lvl="0" marL="228600" rtl="0" algn="l">
              <a:spcBef>
                <a:spcPts val="0"/>
              </a:spcBef>
              <a:spcAft>
                <a:spcPts val="0"/>
              </a:spcAft>
              <a:buClr>
                <a:srgbClr val="000000"/>
              </a:buClr>
              <a:buSzPts val="2400"/>
              <a:buChar char="•"/>
            </a:pPr>
            <a:r>
              <a:rPr lang="en-US" sz="2400">
                <a:solidFill>
                  <a:srgbClr val="000000"/>
                </a:solidFill>
              </a:rPr>
              <a:t>Cloud service outages may affect access</a:t>
            </a:r>
            <a:endParaRPr sz="24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